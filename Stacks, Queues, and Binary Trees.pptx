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8" r:id="rId9"/>
    <p:sldId id="261" r:id="rId10"/>
    <p:sldId id="262" r:id="rId11"/>
    <p:sldId id="263" r:id="rId12"/>
    <p:sldId id="264" r:id="rId13"/>
    <p:sldId id="265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>
        <p:scale>
          <a:sx n="78" d="100"/>
          <a:sy n="78" d="100"/>
        </p:scale>
        <p:origin x="653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1F5C8-1574-BBA4-7DE9-597847E5B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DC8FD9-4E89-7DE0-022F-7DC804661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EFABD-C1CA-D94B-36F8-877E0E2D3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B5B5-A319-45B8-8999-B5B1F86D497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E6F61-BB36-B15C-2886-3EC36852A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C2712-4A6D-3B06-96DC-206449A76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290-7CD3-49EE-9AB3-FF1EB5DDF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43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FAEEA-69F8-918A-C30F-F06090A7F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63B62-D775-CF91-DA27-645B34C75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445D5-352D-AD00-61E8-5B146279C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B5B5-A319-45B8-8999-B5B1F86D497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D362B-3053-4039-4CF0-D6814E1E5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E75D4-4135-173C-5051-D8CA4A27A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290-7CD3-49EE-9AB3-FF1EB5DDF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44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41C12-BF80-6D15-8C20-C3B0223AD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82FAF-B213-D866-414B-4F56CB4AB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7EF28-440D-0274-568D-7A3BE573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B5B5-A319-45B8-8999-B5B1F86D497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38ED7-62E3-514E-E921-F19C77BBA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4E050-EB43-8892-D6E3-17CE4DF7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290-7CD3-49EE-9AB3-FF1EB5DDF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63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8695-BD71-FAA8-846B-FC82B7A02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EB485-3AD0-18FF-76D4-8B3F2167BB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B9F681-BF5E-47AF-5432-D921479C7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68FE4-F6E4-4331-D563-5FED725A1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B5B5-A319-45B8-8999-B5B1F86D497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9AA53-46E5-C14A-9AE0-AAABB32FB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01E09-61B8-CBD4-9141-817484720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290-7CD3-49EE-9AB3-FF1EB5DDF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07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A6630-3136-63F5-3A16-C99CBA352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73AB6-5473-AD64-30D8-25F7588F4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A70ED-7990-73F0-1B74-91083D3CA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D55686-C174-05CD-1184-A7F1CA6C22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AA8A99-F479-ECEC-3C75-9DF1746BE6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C59E87-99BA-09E6-1EE4-CCA2F04C1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B5B5-A319-45B8-8999-B5B1F86D497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EA8842-12B8-AF28-AE8C-AAB677731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B7AAEE-AD85-274F-8626-0A614F511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290-7CD3-49EE-9AB3-FF1EB5DDF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80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01E32-A75D-29D1-25A0-DC9AC1BF7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A1BF37-A4FF-CF5C-66C3-51E1345D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B5B5-A319-45B8-8999-B5B1F86D497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6CE3F6-158A-DA52-E825-433442D71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AC2663-D036-4894-F4F1-B6E2446A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290-7CD3-49EE-9AB3-FF1EB5DDF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327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F03E65-5478-C274-ECF8-B1540E35D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B5B5-A319-45B8-8999-B5B1F86D497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AC3E25-E445-EEAA-8340-1891470D9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1F4B6-A3F4-4936-9175-1D450DDB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290-7CD3-49EE-9AB3-FF1EB5DDF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53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083FC-C4E4-9155-607F-D2AB3E98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9861F-7A41-30C1-29F1-970184DF0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F43FE-DEC0-7F87-6764-10845AC67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0317D-0ACE-4421-2624-8C97E79B9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B5B5-A319-45B8-8999-B5B1F86D497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03787-80F8-17F6-61F5-FB1810DC1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9FA0D-9AE8-C27D-8B52-7B95899D9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290-7CD3-49EE-9AB3-FF1EB5DDF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293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5977-ECDE-9850-4E2E-BFF44F84A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A113C-FF44-D13A-4F06-1E02A42F59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EE2FFB-5516-989D-B818-1B90E90FD5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A603A-7542-F5DC-FAB7-C13391071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B5B5-A319-45B8-8999-B5B1F86D497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CD074-1FEA-EB25-ED03-08E59B39C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94F444-9A74-5347-619A-D592AB7F1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290-7CD3-49EE-9AB3-FF1EB5DDF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3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8DE0E-A88C-0935-5B69-B35A719CD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89EA9A-819E-4F1C-37A1-7F67ABFB1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345AF-183C-A768-8180-E1817EA8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B5B5-A319-45B8-8999-B5B1F86D497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A4C6B-102E-B764-76C9-BC164AA05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57BB1-5D14-C138-39FC-D6D21BEDF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290-7CD3-49EE-9AB3-FF1EB5DDF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086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37E4FA-F787-28E7-F8C8-51555EB918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A7D38E-2694-31E8-1621-4CE782C36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61DF5-F8EC-A6C1-34A9-FBBFED7CF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B5B5-A319-45B8-8999-B5B1F86D497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A6FE0-B76C-9F28-C605-CA9453C94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6E3DF-7FCF-0EE6-2CD9-5E63C5F8B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290-7CD3-49EE-9AB3-FF1EB5DDF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432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C4C1B1-E6F8-3540-2C50-AB865C6F1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4B188-24F4-870A-329D-34B439B4E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06B95-4A29-F4D2-498B-E24BA66B8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EEB5B5-A319-45B8-8999-B5B1F86D497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31C4D-31E0-9347-1E76-1A6B64F12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19EC1-B121-31E5-BD96-B4B92CDD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44B290-7CD3-49EE-9AB3-FF1EB5DDF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6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thank-you-signage-2072165/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rrows going up">
            <a:extLst>
              <a:ext uri="{FF2B5EF4-FFF2-40B4-BE49-F238E27FC236}">
                <a16:creationId xmlns:a16="http://schemas.microsoft.com/office/drawing/2014/main" id="{3CD49D2A-0652-516E-CCD6-718ACAC4ED7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6305" r="-1" b="6110"/>
          <a:stretch>
            <a:fillRect/>
          </a:stretch>
        </p:blipFill>
        <p:spPr>
          <a:xfrm>
            <a:off x="20" y="10"/>
            <a:ext cx="1218893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C89883-DB8A-115D-91AA-339E97D6A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124712"/>
            <a:ext cx="9144000" cy="3063240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Stacks, Queues, and Binary Trees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8FD4FD-76D1-896B-092A-8A245DA72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2275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GTech</a:t>
            </a:r>
          </a:p>
        </p:txBody>
      </p:sp>
      <p:sp>
        <p:nvSpPr>
          <p:cNvPr id="16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4E87FCFB-2CCE-460D-B3DD-557C8BD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4194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127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55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orm's-eye view of a large tree">
            <a:extLst>
              <a:ext uri="{FF2B5EF4-FFF2-40B4-BE49-F238E27FC236}">
                <a16:creationId xmlns:a16="http://schemas.microsoft.com/office/drawing/2014/main" id="{8858294A-3F13-594D-C778-7F93C5EAC8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86" r="36555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65B8FD-634D-231A-DF42-5735B332D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3DEAB-C000-BD31-C859-E1109F4B1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Stacks</a:t>
            </a:r>
          </a:p>
          <a:p>
            <a:r>
              <a:rPr lang="en-US" sz="2000" dirty="0"/>
              <a:t>Queues and Circular Queues</a:t>
            </a:r>
          </a:p>
          <a:p>
            <a:r>
              <a:rPr lang="en-US" sz="2000" dirty="0"/>
              <a:t>Binary Trees and BST Terminology</a:t>
            </a:r>
          </a:p>
          <a:p>
            <a:r>
              <a:rPr lang="en-US" sz="2000" dirty="0"/>
              <a:t>Building a BST</a:t>
            </a:r>
          </a:p>
          <a:p>
            <a:r>
              <a:rPr lang="en-US" sz="2000" dirty="0"/>
              <a:t>Tree Traversal</a:t>
            </a:r>
          </a:p>
          <a:p>
            <a:r>
              <a:rPr lang="en-US" sz="20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037318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nt">
            <a:extLst>
              <a:ext uri="{FF2B5EF4-FFF2-40B4-BE49-F238E27FC236}">
                <a16:creationId xmlns:a16="http://schemas.microsoft.com/office/drawing/2014/main" id="{3B1FBD85-8991-2A31-6956-1A07186D5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13367" y="-2"/>
            <a:ext cx="1078633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252BC7B-4F7B-6E34-71DB-D06EFE32D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56" y="0"/>
            <a:ext cx="11423904" cy="6858000"/>
          </a:xfrm>
          <a:prstGeom prst="rect">
            <a:avLst/>
          </a:prstGeom>
          <a:ln>
            <a:noFill/>
          </a:ln>
          <a:effectLst>
            <a:outerShdw blurRad="317500" dist="127000" dir="2400000" sx="95000" sy="95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2F97F52-C578-5AB2-B699-50008FCBA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680" y="0"/>
            <a:ext cx="11427028" cy="2284810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DC24C-93EA-8FF3-3E2F-30466EA6B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429490"/>
            <a:ext cx="9589765" cy="1432273"/>
          </a:xfrm>
        </p:spPr>
        <p:txBody>
          <a:bodyPr>
            <a:normAutofit/>
          </a:bodyPr>
          <a:lstStyle/>
          <a:p>
            <a:r>
              <a:rPr lang="en-US" sz="4800"/>
              <a:t>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915CB-C94D-5139-0E42-7063EE96D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880155"/>
            <a:ext cx="9590349" cy="3382498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2000" dirty="0"/>
              <a:t>Definition: Linear data structure following LIFO(Last In, First Out)</a:t>
            </a:r>
          </a:p>
          <a:p>
            <a:r>
              <a:rPr lang="en-US" sz="2000" dirty="0"/>
              <a:t>Elements are arranged one above another</a:t>
            </a:r>
          </a:p>
          <a:p>
            <a:r>
              <a:rPr lang="en-US" sz="2000" dirty="0"/>
              <a:t>Insertion and deletion happened at one end only</a:t>
            </a:r>
          </a:p>
          <a:p>
            <a:r>
              <a:rPr lang="en-US" sz="2000" dirty="0"/>
              <a:t>End is call Top</a:t>
            </a:r>
          </a:p>
          <a:p>
            <a:r>
              <a:rPr lang="en-US" sz="2000" dirty="0"/>
              <a:t>Core Operations:</a:t>
            </a:r>
          </a:p>
          <a:p>
            <a:pPr lvl="1"/>
            <a:r>
              <a:rPr lang="en-US" sz="2000" dirty="0"/>
              <a:t>Push(): Add to top</a:t>
            </a:r>
          </a:p>
          <a:p>
            <a:pPr lvl="1"/>
            <a:r>
              <a:rPr lang="en-US" sz="2000" dirty="0"/>
              <a:t>Pop(): remove from top</a:t>
            </a:r>
          </a:p>
          <a:p>
            <a:pPr lvl="1"/>
            <a:r>
              <a:rPr lang="en-US" sz="2000" dirty="0"/>
              <a:t>Peek(): view top</a:t>
            </a:r>
          </a:p>
          <a:p>
            <a:pPr lvl="1"/>
            <a:r>
              <a:rPr lang="en-US" sz="2000" dirty="0" err="1"/>
              <a:t>isEmpty</a:t>
            </a:r>
            <a:r>
              <a:rPr lang="en-US" sz="2000" dirty="0"/>
              <a:t>(): check whether stack is empty</a:t>
            </a:r>
          </a:p>
          <a:p>
            <a:pPr lvl="1"/>
            <a:r>
              <a:rPr lang="en-US" sz="2000" dirty="0" err="1"/>
              <a:t>isFull</a:t>
            </a:r>
            <a:r>
              <a:rPr lang="en-US" sz="2000" dirty="0"/>
              <a:t>(): check whether stack is full</a:t>
            </a:r>
          </a:p>
          <a:p>
            <a:pPr lvl="1"/>
            <a:r>
              <a:rPr lang="en-US" sz="2000" dirty="0" err="1"/>
              <a:t>displayAll</a:t>
            </a:r>
            <a:r>
              <a:rPr lang="en-US" sz="2000" dirty="0"/>
              <a:t>(): Display all element.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81788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976F06-B660-56A1-62C4-1B1B99864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1AB5349-F3C5-4CAC-FBA6-2DF4487CDB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281" y="643466"/>
            <a:ext cx="5800769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321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BE9A04-113B-7232-17B0-2300F6335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000"/>
              <a:t>Stack Overflow and Underflow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24A26-08AD-4822-B6F6-F4C3308CB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/>
              <a:t>Stack Overflow: Pushing to a full stack</a:t>
            </a:r>
          </a:p>
          <a:p>
            <a:r>
              <a:rPr lang="en-US" sz="2200"/>
              <a:t>Stack Underflow: Popping from an empty stack</a:t>
            </a:r>
          </a:p>
          <a:p>
            <a:r>
              <a:rPr lang="en-US" sz="2200"/>
              <a:t>Array Implementation: int arr[SIZE]; int top;</a:t>
            </a:r>
          </a:p>
          <a:p>
            <a:r>
              <a:rPr lang="en-US" sz="2200"/>
              <a:t>Code Snippet: if (isFull()) return; and if (isEmpty()) return -1;</a:t>
            </a:r>
          </a:p>
        </p:txBody>
      </p:sp>
      <p:pic>
        <p:nvPicPr>
          <p:cNvPr id="5" name="Picture 4" descr="Piles of paper">
            <a:extLst>
              <a:ext uri="{FF2B5EF4-FFF2-40B4-BE49-F238E27FC236}">
                <a16:creationId xmlns:a16="http://schemas.microsoft.com/office/drawing/2014/main" id="{31BC5AA0-5B4F-DA1A-23AE-0AE67F1F6B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55" r="6992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75585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83B79A-BB47-C5C5-B1A7-3ACED7989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600"/>
              <a:t>Stack Using a Static Array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11166-D77D-866B-6D69-81C5234B1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A stack be implemented using a fixed size array</a:t>
            </a:r>
          </a:p>
          <a:p>
            <a:r>
              <a:rPr lang="en-US" sz="2200" dirty="0"/>
              <a:t>Example:</a:t>
            </a:r>
          </a:p>
          <a:p>
            <a:pPr marL="0" indent="0">
              <a:buNone/>
            </a:pPr>
            <a:r>
              <a:rPr lang="en-US" sz="2200" dirty="0"/>
              <a:t>Int stack[3];</a:t>
            </a:r>
          </a:p>
          <a:p>
            <a:pPr marL="0" indent="0">
              <a:buNone/>
            </a:pPr>
            <a:r>
              <a:rPr lang="en-US" sz="2200" dirty="0"/>
              <a:t>Capacity = 3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15877E-2404-9F71-6C13-990FC81FA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667512"/>
            <a:ext cx="6903720" cy="552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584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BF1070-970B-1F11-C175-E10DB1F46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dirty="0"/>
              <a:t>Real-Life </a:t>
            </a:r>
            <a:r>
              <a:rPr lang="en-US" dirty="0" err="1"/>
              <a:t>Exaple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47F3F-E702-CD9D-9B22-0BBA6E943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>
            <a:normAutofit/>
          </a:bodyPr>
          <a:lstStyle/>
          <a:p>
            <a:r>
              <a:rPr lang="en-US" sz="2000"/>
              <a:t>Image that you are in a cafeteria</a:t>
            </a:r>
          </a:p>
          <a:p>
            <a:r>
              <a:rPr lang="en-US" sz="2000"/>
              <a:t>Your plates on top of each other</a:t>
            </a:r>
          </a:p>
          <a:p>
            <a:r>
              <a:rPr lang="en-US" sz="2000"/>
              <a:t>Why LIFO: you cannot easily take Plate 1 without first removing plates 4,3,2 which are on top.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B928C4-4F27-32FE-597D-1F29D1920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10" y="1106815"/>
            <a:ext cx="4737650" cy="466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272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C6EFE-FE47-7D0F-7C22-5F98CEF8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Advantages and Limitation of Array Based Stack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27B5D-EE2A-8D8D-3583-5662E35C2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/>
              <a:t>Advantages</a:t>
            </a:r>
          </a:p>
          <a:p>
            <a:pPr lvl="1"/>
            <a:r>
              <a:rPr lang="en-US" sz="2200"/>
              <a:t>Simple and easy to understand and implement</a:t>
            </a:r>
          </a:p>
          <a:p>
            <a:pPr lvl="1"/>
            <a:r>
              <a:rPr lang="en-US" sz="2200"/>
              <a:t>Fast Operation generally O(1)</a:t>
            </a:r>
          </a:p>
          <a:p>
            <a:pPr lvl="1"/>
            <a:r>
              <a:rPr lang="en-US" sz="2200"/>
              <a:t>Memory efficient</a:t>
            </a:r>
          </a:p>
          <a:p>
            <a:r>
              <a:rPr lang="en-US" sz="2200"/>
              <a:t>Disadvantage</a:t>
            </a:r>
          </a:p>
          <a:p>
            <a:pPr lvl="1"/>
            <a:r>
              <a:rPr lang="en-US" sz="2200"/>
              <a:t>Fixed Sized</a:t>
            </a:r>
          </a:p>
          <a:p>
            <a:pPr lvl="1"/>
            <a:r>
              <a:rPr lang="en-US" sz="2200"/>
              <a:t>Possible Wasted Space</a:t>
            </a:r>
          </a:p>
          <a:p>
            <a:pPr lvl="1"/>
            <a:r>
              <a:rPr lang="en-US" sz="2200"/>
              <a:t>Overflow</a:t>
            </a:r>
          </a:p>
        </p:txBody>
      </p:sp>
    </p:spTree>
    <p:extLst>
      <p:ext uri="{BB962C8B-B14F-4D97-AF65-F5344CB8AC3E}">
        <p14:creationId xmlns:p14="http://schemas.microsoft.com/office/powerpoint/2010/main" val="3423753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69B2E-55AB-CB22-CF3A-919307383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Queues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8A973-3BD7-8E64-4FA1-9DE98DE86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/>
              <a:t>Definition: linear data structure following FIFO(First In, First Out)</a:t>
            </a:r>
          </a:p>
          <a:p>
            <a:r>
              <a:rPr lang="en-US" sz="2200"/>
              <a:t>Core Operations:</a:t>
            </a:r>
          </a:p>
          <a:p>
            <a:pPr lvl="1"/>
            <a:r>
              <a:rPr lang="en-US" sz="2200"/>
              <a:t>Enqueue() – Add to rear</a:t>
            </a:r>
          </a:p>
          <a:p>
            <a:pPr lvl="1"/>
            <a:r>
              <a:rPr lang="en-US" sz="2200"/>
              <a:t>Dequeue() -  Remove from front</a:t>
            </a:r>
          </a:p>
          <a:p>
            <a:pPr lvl="1"/>
            <a:r>
              <a:rPr lang="en-US" sz="2200"/>
              <a:t>Peek(): Get the element at the front of the queue without removing it.</a:t>
            </a:r>
          </a:p>
          <a:p>
            <a:pPr lvl="1"/>
            <a:r>
              <a:rPr lang="en-US" sz="2200"/>
              <a:t>Isfull(): check if the queue is full.</a:t>
            </a:r>
          </a:p>
          <a:p>
            <a:pPr lvl="1"/>
            <a:r>
              <a:rPr lang="en-US" sz="2200"/>
              <a:t>Isempty(): check if the queue is empty.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745654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7DF1B4-6B57-C040-5DCB-DEF0AEC50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US"/>
              <a:t>Enqueue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DFBB7-785E-A79C-5292-1741539EF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r>
              <a:rPr lang="en-US" sz="1900"/>
              <a:t>Step 1: Check if the queue is full.</a:t>
            </a:r>
          </a:p>
          <a:p>
            <a:r>
              <a:rPr lang="en-US" sz="1900"/>
              <a:t>Step 2: if the queue is full, produce overflow error and exit.</a:t>
            </a:r>
          </a:p>
          <a:p>
            <a:r>
              <a:rPr lang="en-US" sz="1900"/>
              <a:t>Step 3: if the queue is not full, increment rear pointer to point the next empty space.</a:t>
            </a:r>
          </a:p>
          <a:p>
            <a:r>
              <a:rPr lang="en-US" sz="1900"/>
              <a:t>Step 4: add data element to queue location, where rear is pointing.</a:t>
            </a:r>
          </a:p>
          <a:p>
            <a:r>
              <a:rPr lang="en-US" sz="1900"/>
              <a:t>Step 5: return success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84D073-0783-98E9-28B9-AA3F45AE0F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986" y="1449202"/>
            <a:ext cx="4747547" cy="398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110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33297-02A9-5D6E-D388-23F4F1B53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US" dirty="0"/>
              <a:t>Dequeue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375D6-9540-DBF4-CE81-B1EE4F258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r>
              <a:rPr lang="en-US" sz="1900"/>
              <a:t>Step 1: check if the queue is empty</a:t>
            </a:r>
          </a:p>
          <a:p>
            <a:r>
              <a:rPr lang="en-US" sz="1900"/>
              <a:t>Step 2: if the queue is empty, produce underflow error and exit.</a:t>
            </a:r>
          </a:p>
          <a:p>
            <a:r>
              <a:rPr lang="en-US" sz="1900"/>
              <a:t>Step 3: if the queue is not empty, access the data where front is pointing.</a:t>
            </a:r>
          </a:p>
          <a:p>
            <a:r>
              <a:rPr lang="en-US" sz="1900"/>
              <a:t>Step 4: increment front pointer to point to the next data available element.</a:t>
            </a:r>
          </a:p>
          <a:p>
            <a:r>
              <a:rPr lang="en-US" sz="1900"/>
              <a:t>Step 5: return success.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CB26A7-C8CD-74A8-A711-459530F82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986" y="1306776"/>
            <a:ext cx="4747547" cy="427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236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AF5D7-47B1-EFDF-4F00-83A1ED281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Circular Queue &amp; Wrap-Around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C2BDE-2CB6-03A1-B844-1790FB1F1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/>
              <a:t>Solution to linear queue problem to reuse empty spaces.</a:t>
            </a:r>
          </a:p>
          <a:p>
            <a:r>
              <a:rPr lang="en-US" sz="2200"/>
              <a:t>When a the rare reaches the last index, the next position become 0.</a:t>
            </a:r>
          </a:p>
          <a:p>
            <a:r>
              <a:rPr lang="en-US" sz="2200"/>
              <a:t>Formula: end = (end +1)%SIZE;</a:t>
            </a:r>
          </a:p>
          <a:p>
            <a:r>
              <a:rPr lang="en-US" sz="2200"/>
              <a:t>Variables: start,end,count.</a:t>
            </a:r>
          </a:p>
          <a:p>
            <a:endParaRPr lang="en-US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2F983A-A9B1-A371-D276-7AAF76EC9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136233"/>
            <a:ext cx="5458968" cy="458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272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A3405-9CD3-BE0C-BF58-31B3F0A69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Binary Tree Fundamentals and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BC5A6-563B-D09F-4FE5-FFD824E56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endParaRPr lang="en-US" sz="1600" dirty="0"/>
          </a:p>
          <a:p>
            <a:r>
              <a:rPr lang="en-US" sz="1600" dirty="0"/>
              <a:t>Non linear, hierarchical data structure</a:t>
            </a:r>
          </a:p>
          <a:p>
            <a:r>
              <a:rPr lang="en-US" sz="1600" dirty="0"/>
              <a:t>Each node has at most 2 children</a:t>
            </a:r>
          </a:p>
          <a:p>
            <a:r>
              <a:rPr lang="en-US" sz="1600" dirty="0"/>
              <a:t>Children are called left child and right child</a:t>
            </a:r>
          </a:p>
          <a:p>
            <a:pPr lvl="1"/>
            <a:r>
              <a:rPr lang="en-US" sz="1600" dirty="0"/>
              <a:t>Node: individual element</a:t>
            </a:r>
          </a:p>
          <a:p>
            <a:pPr lvl="1"/>
            <a:r>
              <a:rPr lang="en-US" sz="1600" dirty="0"/>
              <a:t>Root: topmost node</a:t>
            </a:r>
          </a:p>
          <a:p>
            <a:pPr lvl="1"/>
            <a:r>
              <a:rPr lang="en-US" sz="1600" dirty="0"/>
              <a:t>Parent: node directly above another node</a:t>
            </a:r>
          </a:p>
          <a:p>
            <a:pPr lvl="1"/>
            <a:r>
              <a:rPr lang="en-US" sz="1600" dirty="0"/>
              <a:t>Child: node directly below a parent</a:t>
            </a:r>
          </a:p>
          <a:p>
            <a:pPr lvl="1"/>
            <a:r>
              <a:rPr lang="en-US" sz="1600" dirty="0"/>
              <a:t>Left child: child on the left</a:t>
            </a:r>
          </a:p>
          <a:p>
            <a:pPr lvl="1"/>
            <a:r>
              <a:rPr lang="en-US" sz="1600" dirty="0"/>
              <a:t>Right child: child on the right</a:t>
            </a:r>
          </a:p>
          <a:p>
            <a:pPr lvl="1"/>
            <a:r>
              <a:rPr lang="en-US" sz="1600" dirty="0"/>
              <a:t>Leaf: node with no children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366D29-63F8-76F7-4CF8-AB634ECF5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502" y="1437273"/>
            <a:ext cx="3615776" cy="399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905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08BB9-5BE3-85A1-6EF3-8B1469C7A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200"/>
              <a:t>Subtree, left subtree and right subtree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8A170-6A20-73BB-0A98-D4789FDA7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/>
              <a:t>Left subtree: everything below the left child</a:t>
            </a:r>
          </a:p>
          <a:p>
            <a:r>
              <a:rPr lang="en-US" sz="2200"/>
              <a:t>Right subtree: everything below the right child</a:t>
            </a:r>
          </a:p>
          <a:p>
            <a:r>
              <a:rPr lang="en-US" sz="2200"/>
              <a:t>Subtree: smaller tree withing a larger tree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568B28-1AF6-C7BE-DF64-C62EBDD36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706340"/>
            <a:ext cx="5458968" cy="544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230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93CE43-BAF5-2017-6219-A4C1D6F90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Binary Search Tree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FA213-D425-F983-2554-643A8A2C5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/>
              <a:t>All elements in its left subtree are less than the node</a:t>
            </a:r>
          </a:p>
          <a:p>
            <a:r>
              <a:rPr lang="en-US" sz="2200"/>
              <a:t>All elements in its right subtree are greater than the node</a:t>
            </a:r>
          </a:p>
          <a:p>
            <a:r>
              <a:rPr lang="en-US" sz="2200"/>
              <a:t>Space complexity is O(n) as it only depends on the number of nodes in the tree</a:t>
            </a:r>
          </a:p>
          <a:p>
            <a:r>
              <a:rPr lang="en-US" sz="2200"/>
              <a:t>Good for applications where efficient search, insertion and detection are required like database and dictionaries.</a:t>
            </a:r>
          </a:p>
        </p:txBody>
      </p:sp>
    </p:spTree>
    <p:extLst>
      <p:ext uri="{BB962C8B-B14F-4D97-AF65-F5344CB8AC3E}">
        <p14:creationId xmlns:p14="http://schemas.microsoft.com/office/powerpoint/2010/main" val="118315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00A77D-6977-A30C-26D8-9A25FC0CB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Building BTS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C22F9-E0A4-7826-363E-59B2BC6D1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/>
              <a:t>Original Dataset:</a:t>
            </a:r>
          </a:p>
          <a:p>
            <a:pPr marL="0" indent="0">
              <a:buNone/>
            </a:pPr>
            <a:r>
              <a:rPr lang="en-US" sz="2200"/>
              <a:t>[45,22,78,15,33,62,90,33,70,855,22,50]</a:t>
            </a:r>
          </a:p>
          <a:p>
            <a:r>
              <a:rPr lang="en-US" sz="2200"/>
              <a:t>Duplicates: [22,33]</a:t>
            </a:r>
          </a:p>
          <a:p>
            <a:r>
              <a:rPr lang="en-US" sz="2200"/>
              <a:t>Final Insertion Order</a:t>
            </a:r>
          </a:p>
          <a:p>
            <a:pPr marL="0" indent="0">
              <a:buNone/>
            </a:pPr>
            <a:r>
              <a:rPr lang="en-US" sz="2200"/>
              <a:t>[45,22,78,15,33,60,90,70,85,50]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E47319-2E50-1B27-719B-94A2F4900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560" y="640080"/>
            <a:ext cx="5047944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407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CBFB2-CC20-B432-432A-8625CE1F1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Tree traversals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81DD3-C224-1160-AA9A-B4A9CA103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/>
              <a:t>Inorder:</a:t>
            </a:r>
          </a:p>
          <a:p>
            <a:pPr lvl="1"/>
            <a:r>
              <a:rPr lang="en-US" sz="2200"/>
              <a:t>Formula: Left – Root – Right</a:t>
            </a:r>
          </a:p>
          <a:p>
            <a:pPr lvl="1"/>
            <a:r>
              <a:rPr lang="en-US" sz="2200"/>
              <a:t>Example: 15,22,33,45,50,60,70,78,85,90</a:t>
            </a:r>
          </a:p>
          <a:p>
            <a:r>
              <a:rPr lang="en-US" sz="2200"/>
              <a:t>Preorder:</a:t>
            </a:r>
          </a:p>
          <a:p>
            <a:pPr lvl="1"/>
            <a:r>
              <a:rPr lang="en-US" sz="2200"/>
              <a:t>Formula: Root – Left – Right</a:t>
            </a:r>
          </a:p>
          <a:p>
            <a:pPr lvl="1"/>
            <a:r>
              <a:rPr lang="en-US" sz="2200"/>
              <a:t>Example: 45,22,15,33,78,60,50,70,90,85</a:t>
            </a:r>
          </a:p>
          <a:p>
            <a:r>
              <a:rPr lang="en-US" sz="2200"/>
              <a:t>Postorder:</a:t>
            </a:r>
          </a:p>
          <a:p>
            <a:pPr lvl="1"/>
            <a:r>
              <a:rPr lang="en-US" sz="2200"/>
              <a:t>Formula: Left – Right – Root</a:t>
            </a:r>
          </a:p>
          <a:p>
            <a:pPr marL="457200" lvl="1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257938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CFE27A-8779-8B26-FA7D-97938CE45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673770"/>
            <a:ext cx="3644489" cy="2414488"/>
          </a:xfrm>
        </p:spPr>
        <p:txBody>
          <a:bodyPr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46F55-BAC1-AA59-B16D-178B3592A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882315"/>
            <a:ext cx="5254754" cy="5294647"/>
          </a:xfrm>
        </p:spPr>
        <p:txBody>
          <a:bodyPr>
            <a:normAutofit/>
          </a:bodyPr>
          <a:lstStyle/>
          <a:p>
            <a:r>
              <a:rPr lang="en-US" sz="2200"/>
              <a:t>Stack (LIFO)</a:t>
            </a:r>
          </a:p>
          <a:p>
            <a:r>
              <a:rPr lang="en-US" sz="2200"/>
              <a:t>queue)(FIFO)</a:t>
            </a:r>
          </a:p>
          <a:p>
            <a:r>
              <a:rPr lang="en-US" sz="2200"/>
              <a:t>Binary search Tree: Left &lt; Root&lt; Right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981805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CFB124C-4B0C-4A81-8633-17257B151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2006" y="569844"/>
            <a:ext cx="8427988" cy="5649981"/>
          </a:xfrm>
          <a:prstGeom prst="rect">
            <a:avLst/>
          </a:prstGeom>
          <a:ln>
            <a:noFill/>
          </a:ln>
          <a:effectLst>
            <a:outerShdw blurRad="317500" dist="317500" dir="7140000" sx="95000" sy="95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3B6CF0-0FE6-F5D9-5122-E99D113509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62"/>
          <a:stretch>
            <a:fillRect/>
          </a:stretch>
        </p:blipFill>
        <p:spPr>
          <a:xfrm>
            <a:off x="1882006" y="569843"/>
            <a:ext cx="8450714" cy="564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174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710</Words>
  <Application>Microsoft Office PowerPoint</Application>
  <PresentationFormat>Widescreen</PresentationFormat>
  <Paragraphs>110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Stacks, Queues, and Binary Trees</vt:lpstr>
      <vt:lpstr>Agenda</vt:lpstr>
      <vt:lpstr>Stack</vt:lpstr>
      <vt:lpstr>Example</vt:lpstr>
      <vt:lpstr>Stack Overflow and Underflow</vt:lpstr>
      <vt:lpstr>Stack Using a Static Array</vt:lpstr>
      <vt:lpstr>Real-Life Exaple</vt:lpstr>
      <vt:lpstr>Advantages and Limitation of Array Based Stack</vt:lpstr>
      <vt:lpstr>Queues</vt:lpstr>
      <vt:lpstr>Enqueue Operation</vt:lpstr>
      <vt:lpstr>Dequeue Operation</vt:lpstr>
      <vt:lpstr>Circular Queue &amp; Wrap-Around</vt:lpstr>
      <vt:lpstr>Binary Tree Fundamentals and Terminology</vt:lpstr>
      <vt:lpstr>Subtree, left subtree and right subtree</vt:lpstr>
      <vt:lpstr>Binary Search Tree</vt:lpstr>
      <vt:lpstr>Building BTS</vt:lpstr>
      <vt:lpstr>Tree traversals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 Kumar Giri</dc:creator>
  <cp:lastModifiedBy>Raj Kumar Giri</cp:lastModifiedBy>
  <cp:revision>4</cp:revision>
  <dcterms:created xsi:type="dcterms:W3CDTF">2026-09-22T02:56:22Z</dcterms:created>
  <dcterms:modified xsi:type="dcterms:W3CDTF">2026-09-23T22:18:26Z</dcterms:modified>
</cp:coreProperties>
</file>